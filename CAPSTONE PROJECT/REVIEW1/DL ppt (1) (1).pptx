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9" r:id="rId13"/>
    <p:sldId id="270" r:id="rId14"/>
    <p:sldId id="271" r:id="rId15"/>
    <p:sldId id="27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04C7AC-A010-487F-87BC-A1997CCB3C6F}" v="11" dt="2026-08-12T05:04:28.44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0588" autoAdjust="0"/>
  </p:normalViewPr>
  <p:slideViewPr>
    <p:cSldViewPr snapToGrid="0">
      <p:cViewPr varScale="1">
        <p:scale>
          <a:sx n="75" d="100"/>
          <a:sy n="75" d="100"/>
        </p:scale>
        <p:origin x="97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D62E1E-0936-4191-B233-E9540232F09B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DA7398-14AA-408E-99EA-8F135C33FC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34711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DA7398-14AA-408E-99EA-8F135C33FCE7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92051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0B87D-B439-0E28-D8D4-B95458EE94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D9CCF8-6774-8DFD-4047-46281B781F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31D3F4-B4D2-2BC2-685D-37729614C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9A85E-F682-4E00-B1A2-37B2532AAD2F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014740-B118-B391-AE33-4DFA3A9D8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089725-8BFD-F58F-4AD2-ADC30CBF1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1A3D6-2499-430D-9A3F-A2427B7DA3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80686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B62E0-9587-4128-5094-BA1800FB0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CD4758-3E4B-E22D-1CB8-A7F38E65FB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612BA9-59CB-2070-1B83-409B7BA20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9A85E-F682-4E00-B1A2-37B2532AAD2F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3C651A-2985-4DEA-91FF-D4382A6EF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E3D193-4344-C364-CE9F-B8636CB8E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1A3D6-2499-430D-9A3F-A2427B7DA3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78095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30BC4-4558-6162-A388-C03BD7D56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FD0D94-A9BC-47F8-A994-57CACFA3E9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48CD7D-429D-DB5C-099C-FDAA36A9E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9A85E-F682-4E00-B1A2-37B2532AAD2F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16D86-00A3-A881-590E-18DCFBACB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863AD4-1DAF-9D96-9DD1-EEAA6B163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1A3D6-2499-430D-9A3F-A2427B7DA3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6406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26661-4247-26EA-6F2F-CF1A9F35B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C76AF8-4095-0913-BDC8-D373213982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20D29A-9568-A518-5C1D-8147702019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9E46CA-4BFD-60E4-4F35-36386A91C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9A85E-F682-4E00-B1A2-37B2532AAD2F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919BEE-063D-2617-04CC-9B8FD791F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833EE2-67A8-7F15-084F-C804827FA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1A3D6-2499-430D-9A3F-A2427B7DA3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01971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E210B-C7AD-D478-92F7-202D4B462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01B262-55F8-BA64-9388-D572C670B3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23EDA8-C989-3AB0-A5FA-195B9A07E0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DC77AC-1D66-3B46-ABD0-A86B4AE973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6EEE33-6D88-2BB8-813B-2A114C6C31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CED6A16-6B54-C86D-A204-CA84F5021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9A85E-F682-4E00-B1A2-37B2532AAD2F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9EA44A-7216-167B-E602-D0F0AB31F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A8E608-9EDA-D45F-9890-D42BD6A5B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1A3D6-2499-430D-9A3F-A2427B7DA3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7114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2639E-C808-FC31-74F2-806D1872A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F131F-8740-3818-29A9-370C7EDB5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9A85E-F682-4E00-B1A2-37B2532AAD2F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6B56-5754-5BCB-809A-242E01306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DF679E-A835-BA78-81BB-B5E64556A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1A3D6-2499-430D-9A3F-A2427B7DA3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40479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51D002B-4D49-3E90-FD6E-EFB18AB64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9A85E-F682-4E00-B1A2-37B2532AAD2F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4EA27C-9AB1-067F-6793-C3DFE793A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F04389-FE76-B55B-07CA-8A004BFEE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1A3D6-2499-430D-9A3F-A2427B7DA3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49812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5039B-60BF-BA7A-0B72-4A5060256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7DE513-0CEE-A425-3C72-CBC7402C4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A3A8AB-B0F0-D8C7-A691-58AC0D0114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FA3E0D-8EF0-C70A-3C44-1B61D1AC6A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9A85E-F682-4E00-B1A2-37B2532AAD2F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E76456-1AE9-7172-AC0B-9ACFA624E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5D906C-E0CF-7EE2-D434-6EE53FA1B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1A3D6-2499-430D-9A3F-A2427B7DA3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96562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A492C-32EA-4B22-9BBB-EF77F1B1B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149BEE4-422B-DF01-90B7-CF0E95F31D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75AF14-890B-3BE8-DF15-77F5291AC9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BF607E-E681-2FA8-0E8F-A1F83AB89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9A85E-F682-4E00-B1A2-37B2532AAD2F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A9A7C0-7C2F-E61A-0212-63C9FEBD0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FA49AE-0D7E-BB2D-0424-E6A421377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1A3D6-2499-430D-9A3F-A2427B7DA3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18965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FF185-1429-9811-DE2C-6C2F061CE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959314-8463-8CF6-D3B8-940F25DF88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8A7BEA-612A-D804-7F5E-5179EF605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9A85E-F682-4E00-B1A2-37B2532AAD2F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85BB6F-8136-8FDC-DB54-11E365DD9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8B33F3-8EB6-F921-39FD-3972D4890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1A3D6-2499-430D-9A3F-A2427B7DA3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0934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7689837-D30C-0E32-6089-CB96811768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96F9F9-D9F8-4BFE-34EA-FE3ACC5F53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0650B-3ECD-F3A3-473A-CAC7E8456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9A85E-F682-4E00-B1A2-37B2532AAD2F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92BA1B-5751-23FF-8C8D-1CCC77F2B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8A7D2D-2897-D95A-4DF3-9A4069069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1A3D6-2499-430D-9A3F-A2427B7DA3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9625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27FFE3-9B10-C8D4-BE12-E05130662F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7EFD1C-855D-6B9C-6D4B-D18DEB7A8D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F3BC78-9CE7-0395-4288-3625859090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C9A85E-F682-4E00-B1A2-37B2532AAD2F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BDD57C-8703-E569-2E43-44856F534C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10C24E-6363-20F5-41F8-352211F86C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11A3D6-2499-430D-9A3F-A2427B7DA3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0167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5542D-2D0A-614B-4216-80643D88B3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06400"/>
            <a:ext cx="9144000" cy="2387600"/>
          </a:xfrm>
        </p:spPr>
        <p:txBody>
          <a:bodyPr>
            <a:no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 Brain Tumour Detection and Classification from MRI Images Using Deep Learning with VGG16, ResNet50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25E8B0-4489-149B-BE4C-71E290203A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3561" y="2913780"/>
            <a:ext cx="10264877" cy="3251046"/>
          </a:xfrm>
        </p:spPr>
        <p:txBody>
          <a:bodyPr>
            <a:normAutofit/>
          </a:bodyPr>
          <a:lstStyle/>
          <a:p>
            <a:r>
              <a:rPr lang="en-US" dirty="0"/>
              <a:t>Team : 06</a:t>
            </a:r>
          </a:p>
          <a:p>
            <a:r>
              <a:rPr lang="en-US" dirty="0"/>
              <a:t>MLA0405 – Deep Learning</a:t>
            </a:r>
          </a:p>
          <a:p>
            <a:endParaRPr lang="en-US" dirty="0"/>
          </a:p>
          <a:p>
            <a:pPr algn="l"/>
            <a:r>
              <a:rPr lang="en-US" b="1" dirty="0"/>
              <a:t>Guided by:                                                                  Student Names:                                                                                    </a:t>
            </a:r>
          </a:p>
          <a:p>
            <a:pPr algn="l"/>
            <a:r>
              <a:rPr lang="en-US" dirty="0"/>
              <a:t>Dr. A. M. Arul Raj                                                        D. N. Shirshika (192425396)</a:t>
            </a:r>
          </a:p>
          <a:p>
            <a:pPr algn="l"/>
            <a:r>
              <a:rPr lang="en-US" dirty="0"/>
              <a:t>Professor                                                                      N. Sai Mounika (192425367)</a:t>
            </a:r>
          </a:p>
          <a:p>
            <a:pPr algn="l"/>
            <a:r>
              <a:rPr lang="en-US" dirty="0"/>
              <a:t>Institute of SIMATS Engineering                               Institute of SIMATS Engineering</a:t>
            </a:r>
          </a:p>
          <a:p>
            <a:pPr algn="l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 descr="Saveetha Institute of Medical and Technical Sciences Engineering Fests,  Symposiums in Chennai from June 2026 Technical, Cultural, Management,  Sports, Conferences, Seminars">
            <a:extLst>
              <a:ext uri="{FF2B5EF4-FFF2-40B4-BE49-F238E27FC236}">
                <a16:creationId xmlns:a16="http://schemas.microsoft.com/office/drawing/2014/main" id="{F61B3B05-E67F-6E6C-61C9-07CC9E1FCB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628" y="202445"/>
            <a:ext cx="11557811" cy="981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0859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7F61A-B592-2D2A-0ACD-903212968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6299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1311E8-84F6-5533-30BE-3F8C099FA3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1219" y="1469641"/>
            <a:ext cx="10515600" cy="4351338"/>
          </a:xfrm>
        </p:spPr>
        <p:txBody>
          <a:bodyPr>
            <a:normAutofit/>
          </a:bodyPr>
          <a:lstStyle/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Brain tumour diagnosis from MRI images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analysis time-consuming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learning-based automated detection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MRI image preprocessing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Tumor detection and segmentation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VGG16 and ResNet50 feature extraction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Brain tumor classification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diagnostic accuracy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C608C3-E792-8277-9A21-310414AFAC9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147" t="11836" r="8383" b="12796"/>
          <a:stretch>
            <a:fillRect/>
          </a:stretch>
        </p:blipFill>
        <p:spPr>
          <a:xfrm>
            <a:off x="7873999" y="1469641"/>
            <a:ext cx="3566979" cy="363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3208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8160C-EC3E-1D71-328F-90DB93129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 &amp; Objectives</a:t>
            </a:r>
            <a:br>
              <a:rPr lang="en-IN" b="1" dirty="0"/>
            </a:b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A8C37A-6ED6-B350-8720-FF0CFDAF68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1277" y="1091380"/>
            <a:ext cx="5508523" cy="562437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 brain tumor detection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 tumor classification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learning-based diagnosis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diagnostic time </a:t>
            </a:r>
          </a:p>
          <a:p>
            <a:pPr marL="0" lv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MRI image preprocessing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Tumor region detection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 using VGG16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 using ResNet50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Tumor classification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evaluation</a:t>
            </a:r>
          </a:p>
          <a:p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CD7FA49-3CAF-3B5C-CCB4-9ABE9A9BEA9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 l="4216" t="9085" r="6765"/>
          <a:stretch>
            <a:fillRect/>
          </a:stretch>
        </p:blipFill>
        <p:spPr>
          <a:xfrm>
            <a:off x="6482080" y="1838960"/>
            <a:ext cx="4612640" cy="3533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42373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EFF3F-FD46-AB7D-70C9-A833FD206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A985B6-C6DD-B1EC-C75E-16D566B8AF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97281" y="1850072"/>
            <a:ext cx="5339080" cy="4642803"/>
          </a:xfrm>
        </p:spPr>
        <p:txBody>
          <a:bodyPr/>
          <a:lstStyle/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Brain tumours affect neurological functions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MRI widely used for diagnosis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diagnosis prone to errors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improves accuracy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healthcare support system</a:t>
            </a:r>
          </a:p>
          <a:p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212CB27-4D2D-C906-5634-38896FFF5A1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 t="13740" b="6407"/>
          <a:stretch>
            <a:fillRect/>
          </a:stretch>
        </p:blipFill>
        <p:spPr>
          <a:xfrm>
            <a:off x="7159005" y="1503681"/>
            <a:ext cx="4194795" cy="3474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59321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911F5FE-B84F-8301-A271-9C4D8023C8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6227856"/>
              </p:ext>
            </p:extLst>
          </p:nvPr>
        </p:nvGraphicFramePr>
        <p:xfrm>
          <a:off x="320041" y="305848"/>
          <a:ext cx="11551918" cy="6246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1680">
                  <a:extLst>
                    <a:ext uri="{9D8B030D-6E8A-4147-A177-3AD203B41FA5}">
                      <a16:colId xmlns:a16="http://schemas.microsoft.com/office/drawing/2014/main" val="960322492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4286963118"/>
                    </a:ext>
                  </a:extLst>
                </a:gridCol>
                <a:gridCol w="1889760">
                  <a:extLst>
                    <a:ext uri="{9D8B030D-6E8A-4147-A177-3AD203B41FA5}">
                      <a16:colId xmlns:a16="http://schemas.microsoft.com/office/drawing/2014/main" val="2524138205"/>
                    </a:ext>
                  </a:extLst>
                </a:gridCol>
                <a:gridCol w="2499360">
                  <a:extLst>
                    <a:ext uri="{9D8B030D-6E8A-4147-A177-3AD203B41FA5}">
                      <a16:colId xmlns:a16="http://schemas.microsoft.com/office/drawing/2014/main" val="4040566900"/>
                    </a:ext>
                  </a:extLst>
                </a:gridCol>
                <a:gridCol w="1544320">
                  <a:extLst>
                    <a:ext uri="{9D8B030D-6E8A-4147-A177-3AD203B41FA5}">
                      <a16:colId xmlns:a16="http://schemas.microsoft.com/office/drawing/2014/main" val="51964282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3227724334"/>
                    </a:ext>
                  </a:extLst>
                </a:gridCol>
                <a:gridCol w="2143758">
                  <a:extLst>
                    <a:ext uri="{9D8B030D-6E8A-4147-A177-3AD203B41FA5}">
                      <a16:colId xmlns:a16="http://schemas.microsoft.com/office/drawing/2014/main" val="3698966268"/>
                    </a:ext>
                  </a:extLst>
                </a:gridCol>
              </a:tblGrid>
              <a:tr h="6664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 err="1"/>
                        <a:t>S.No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Year of Publication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Author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Title of the Journal / Book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Methodology Used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Algorithm Used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Key Findings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628472"/>
                  </a:ext>
                </a:extLst>
              </a:tr>
              <a:tr h="89316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2021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S. Deepak &amp; P.M. Ameer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Brain Tumour Classification Using Deep CNN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MRI Image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CNN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Achieved high accuracy in brain tumor classification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7567562"/>
                  </a:ext>
                </a:extLst>
              </a:tr>
              <a:tr h="109928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2022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A. Kumar 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Automated Brain Tumour Detection Using Deep Learning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Image Preprocessing &amp; Classification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VGG16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Improved feature extraction and detection performance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2821672"/>
                  </a:ext>
                </a:extLst>
              </a:tr>
              <a:tr h="109928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2022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M. Sharma 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MRI-Based Brain Tumour Detection Using Transfer Learning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Transfer Learning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ResNet50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Reduced training time with better classification accuracy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141048"/>
                  </a:ext>
                </a:extLst>
              </a:tr>
              <a:tr h="109928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R. Gupta 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Deep Learning Approaches for Brain Tumour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Feature Extraction &amp; Classification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CNN + ResNet50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Enhanced </a:t>
                      </a:r>
                      <a:r>
                        <a:rPr lang="en-IN" dirty="0" err="1"/>
                        <a:t>tumor</a:t>
                      </a:r>
                      <a:r>
                        <a:rPr lang="en-IN" dirty="0"/>
                        <a:t> identification from MRI images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5412992"/>
                  </a:ext>
                </a:extLst>
              </a:tr>
              <a:tr h="107057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P. Singh 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Automated Brain Tumor Detection and Classification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MRI Segmentation &amp; Classification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VGG16 + ResNet50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Achieved robust multi-class tumor classification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998971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774464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08896-7527-B2F3-CAF2-D7310B0F5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28F9D0-5F7A-B6F8-F280-F2A0718FE3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Brain tumours pose serious health risks and require early diagnosis. 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MRI image analysis is time-consuming and dependent on radiologists' expertise. 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methods may produce inconsistent and less accurate results. 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volumes of MRI scans make manual examination difficult. 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automated deep learning system is needed for accurate tumour detection and classification.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936935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1491D-EC25-DEFA-3980-46464C86E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23C6D1-62AC-D5CE-9A1D-FB7B4A61A7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1465"/>
            <a:ext cx="10515600" cy="4351338"/>
          </a:xfrm>
        </p:spPr>
        <p:txBody>
          <a:bodyPr/>
          <a:lstStyle/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inspection of MRI scans by medical experts. 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Conventional image processing and machine learning techniques. 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significant human intervention. 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 accuracy for complex tumour patterns. 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Longer diagnosis and treatment planning time.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233609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2A8C8-E733-28B1-3392-705144B75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5CD43E-EC4D-D0E8-601A-276DD0FCB6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MRI image analysis using deep learning. 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preprocessing and tumour region detection. 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 using VGG16 and ResNet50. 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of tumour types (Glioma, Meningioma, Pituitary, No Tumour). 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Faster, more accurate, and reliable diagnosis support system.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05610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93EE5-2E82-C020-46C1-1AB3ED3FE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480" y="-112395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 and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A47C32-9C95-180B-4216-F23961522D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415891"/>
            <a:ext cx="5562600" cy="4351338"/>
          </a:xfrm>
        </p:spPr>
        <p:txBody>
          <a:bodyPr>
            <a:normAutofit lnSpcReduction="10000"/>
          </a:bodyPr>
          <a:lstStyle/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MRI Brain Image Dataset Collection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Preprocessing (Resize, Normalize, Noise Removal)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Tumour Detection and Segmentation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 using VGG16 and ResNet50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Brain Tumour Classification and Performance Evaluation</a:t>
            </a:r>
          </a:p>
          <a:p>
            <a:pPr lvl="0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09A34C-117A-2C07-3F59-C66EADA4EE00}"/>
              </a:ext>
            </a:extLst>
          </p:cNvPr>
          <p:cNvSpPr txBox="1"/>
          <p:nvPr/>
        </p:nvSpPr>
        <p:spPr>
          <a:xfrm>
            <a:off x="6736080" y="1213168"/>
            <a:ext cx="6096000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 Used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VGG16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Pre-trained CNN model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16-layer deep architecture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 from MRI images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Transfer learning technique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classification accuracy 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ResNet50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50-layer deep neural network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Residual (skip) connections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Prevents vanishing gradients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Extracts complex features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classification performance</a:t>
            </a:r>
          </a:p>
          <a:p>
            <a:pPr marL="0" lvl="0" indent="0">
              <a:buNone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44967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FFA2A-DF23-8250-AFCB-9D4D2266FE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&amp; Module Planning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AD79B9-7449-0E08-C728-CE58DB6DE9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0360" y="1343818"/>
            <a:ext cx="3987800" cy="5138262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MRI Image Acquisition</a:t>
            </a:r>
          </a:p>
          <a:p>
            <a:pPr lvl="0">
              <a:lnSpc>
                <a:spcPct val="120000"/>
              </a:lnSpc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MRI Dataset Collection </a:t>
            </a:r>
          </a:p>
          <a:p>
            <a:pPr lvl="0">
              <a:lnSpc>
                <a:spcPct val="120000"/>
              </a:lnSpc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Labelling </a:t>
            </a:r>
          </a:p>
          <a:p>
            <a:pPr lvl="0">
              <a:lnSpc>
                <a:spcPct val="120000"/>
              </a:lnSpc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Organization </a:t>
            </a:r>
          </a:p>
          <a:p>
            <a:pPr lvl="0">
              <a:lnSpc>
                <a:spcPct val="120000"/>
              </a:lnSpc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Train/Test Split </a:t>
            </a:r>
          </a:p>
          <a:p>
            <a:pPr lvl="0">
              <a:lnSpc>
                <a:spcPct val="120000"/>
              </a:lnSpc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Validation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Image Preprocessing</a:t>
            </a:r>
          </a:p>
          <a:p>
            <a:pPr lvl="0">
              <a:lnSpc>
                <a:spcPct val="120000"/>
              </a:lnSpc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Resizing </a:t>
            </a:r>
          </a:p>
          <a:p>
            <a:pPr lvl="0">
              <a:lnSpc>
                <a:spcPct val="120000"/>
              </a:lnSpc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Noise Removal </a:t>
            </a:r>
          </a:p>
          <a:p>
            <a:pPr lvl="0">
              <a:lnSpc>
                <a:spcPct val="120000"/>
              </a:lnSpc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Normalization </a:t>
            </a:r>
          </a:p>
          <a:p>
            <a:pPr lvl="0">
              <a:lnSpc>
                <a:spcPct val="120000"/>
              </a:lnSpc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Contrast Enhancement </a:t>
            </a:r>
          </a:p>
          <a:p>
            <a:pPr lvl="0">
              <a:lnSpc>
                <a:spcPct val="120000"/>
              </a:lnSpc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Augmentation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986402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07690-04DC-3CA9-2914-980C048B9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73355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MRI Image Acquisition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A8B157-135F-1145-1094-5029404F6A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080" y="1063624"/>
            <a:ext cx="6395720" cy="5631816"/>
          </a:xfrm>
        </p:spPr>
        <p:txBody>
          <a:bodyPr>
            <a:normAutofit fontScale="625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pPr>
              <a:lnSpc>
                <a:spcPct val="17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collect, organize, and prepare MRI brain images for tumour detection and classification.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Activities</a:t>
            </a:r>
          </a:p>
          <a:p>
            <a:pPr lvl="0">
              <a:lnSpc>
                <a:spcPct val="12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MRI brain image dataset </a:t>
            </a:r>
          </a:p>
          <a:p>
            <a:pPr lvl="0">
              <a:lnSpc>
                <a:spcPct val="12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Label tumour categories accurately </a:t>
            </a:r>
          </a:p>
          <a:p>
            <a:pPr lvl="0">
              <a:lnSpc>
                <a:spcPct val="12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Organize images into folders </a:t>
            </a:r>
          </a:p>
          <a:p>
            <a:pPr lvl="0">
              <a:lnSpc>
                <a:spcPct val="12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Split data into training and testing sets </a:t>
            </a:r>
          </a:p>
          <a:p>
            <a:pPr lvl="0">
              <a:lnSpc>
                <a:spcPct val="12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 dataset quality and consistency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</a:p>
          <a:p>
            <a:pPr lvl="0">
              <a:lnSpc>
                <a:spcPct val="12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MRI Brain Images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  <a:p>
            <a:pPr lvl="0">
              <a:lnSpc>
                <a:spcPct val="12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Prepared and labelled MRI dataset</a:t>
            </a:r>
          </a:p>
          <a:p>
            <a:endParaRPr lang="en-IN" dirty="0"/>
          </a:p>
        </p:txBody>
      </p:sp>
      <p:pic>
        <p:nvPicPr>
          <p:cNvPr id="4" name="Picture 3" descr="6 странных вещей, которые люди делали в МРТ-сканере">
            <a:extLst>
              <a:ext uri="{FF2B5EF4-FFF2-40B4-BE49-F238E27FC236}">
                <a16:creationId xmlns:a16="http://schemas.microsoft.com/office/drawing/2014/main" id="{04B5E3E3-87FE-76C6-C6F5-1201B3C825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5826" y="2148840"/>
            <a:ext cx="5367974" cy="4048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1657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984E1-E477-2784-3053-644CAA190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920" y="-173355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Image Preprocessing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B49390-C4C7-17A8-A0AA-ACC508BB15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0" y="1327784"/>
            <a:ext cx="6192520" cy="4910456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pPr>
              <a:lnSpc>
                <a:spcPct val="17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enhance MRI images and prepare them for accurate tumour detection and classification.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Activities</a:t>
            </a:r>
          </a:p>
          <a:p>
            <a:pPr lvl="0">
              <a:lnSpc>
                <a:spcPct val="12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Resize MRI images to a standard size </a:t>
            </a:r>
          </a:p>
          <a:p>
            <a:pPr lvl="0">
              <a:lnSpc>
                <a:spcPct val="12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 noise and unwanted artifacts </a:t>
            </a:r>
          </a:p>
          <a:p>
            <a:pPr lvl="0">
              <a:lnSpc>
                <a:spcPct val="12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Normalize image pixel values </a:t>
            </a:r>
          </a:p>
          <a:p>
            <a:pPr lvl="0">
              <a:lnSpc>
                <a:spcPct val="12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 image contrast and clarity </a:t>
            </a:r>
          </a:p>
          <a:p>
            <a:pPr lvl="0">
              <a:lnSpc>
                <a:spcPct val="12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data augmentation techniques 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Raw MRI Brain Images 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Pre-processed MRI Images</a:t>
            </a:r>
          </a:p>
          <a:p>
            <a:endParaRPr lang="en-IN" dirty="0"/>
          </a:p>
        </p:txBody>
      </p:sp>
      <p:pic>
        <p:nvPicPr>
          <p:cNvPr id="4" name="Picture 3" descr="The Future of Brain MRI Segmentation in Healthcare">
            <a:extLst>
              <a:ext uri="{FF2B5EF4-FFF2-40B4-BE49-F238E27FC236}">
                <a16:creationId xmlns:a16="http://schemas.microsoft.com/office/drawing/2014/main" id="{EB9C6FC6-FD9F-078A-DA2D-7AB563E8E53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500" t="7994" r="4128" b="12320"/>
          <a:stretch>
            <a:fillRect/>
          </a:stretch>
        </p:blipFill>
        <p:spPr>
          <a:xfrm>
            <a:off x="5923280" y="2366456"/>
            <a:ext cx="5349240" cy="3881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67116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0D82D-32F0-44D5-2F4D-7B5CB418B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Tumour Detection &amp; Segmentation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FA8CE7-2147-E527-AA93-E33C981298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5480" y="1500504"/>
            <a:ext cx="10515600" cy="4808855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identify the tumour region in MRI images and accurately separate it from healthy brain tissues.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Activities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tumour regions in MRI images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 Region of Interest (ROI)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Segment tumour boundaries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Localize tumour position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segmented tumour output 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Pre-processed MRI Images 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Detected and Segmented Tumour Region</a:t>
            </a:r>
          </a:p>
          <a:p>
            <a:endParaRPr lang="en-IN" dirty="0"/>
          </a:p>
        </p:txBody>
      </p:sp>
      <p:pic>
        <p:nvPicPr>
          <p:cNvPr id="4" name="Picture 3" descr="Frontiers | Efficient framework for brain tumor detection using different  deep learning techniques">
            <a:extLst>
              <a:ext uri="{FF2B5EF4-FFF2-40B4-BE49-F238E27FC236}">
                <a16:creationId xmlns:a16="http://schemas.microsoft.com/office/drawing/2014/main" id="{4616DB63-206C-C111-E0E2-42F928EEA0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0095" y="2448560"/>
            <a:ext cx="4077753" cy="3860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4787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37B7A-1910-812B-56D0-2800416BB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71755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4: Feature Extraction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5FCD2F-C181-794E-5ABC-0FD37B5282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0360" y="912018"/>
            <a:ext cx="10408920" cy="5285582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pPr>
              <a:lnSpc>
                <a:spcPct val="17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extract important tumour features from MRI images using deep learning models VGG16 and ResNet50.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Activities</a:t>
            </a:r>
          </a:p>
          <a:p>
            <a:pPr lvl="0">
              <a:lnSpc>
                <a:spcPct val="12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VGG16 model </a:t>
            </a:r>
          </a:p>
          <a:p>
            <a:pPr lvl="0">
              <a:lnSpc>
                <a:spcPct val="12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ResNet50 model </a:t>
            </a:r>
          </a:p>
          <a:p>
            <a:pPr lvl="0">
              <a:lnSpc>
                <a:spcPct val="12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 deep image features </a:t>
            </a:r>
          </a:p>
          <a:p>
            <a:pPr lvl="0">
              <a:lnSpc>
                <a:spcPct val="12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 tumour characteristics </a:t>
            </a:r>
          </a:p>
          <a:p>
            <a:pPr lvl="0">
              <a:lnSpc>
                <a:spcPct val="12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feature vectors 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Segmented Tumour Images 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Extracted Deep Features</a:t>
            </a:r>
          </a:p>
          <a:p>
            <a:endParaRPr lang="en-IN" dirty="0"/>
          </a:p>
        </p:txBody>
      </p:sp>
      <p:pic>
        <p:nvPicPr>
          <p:cNvPr id="4" name="Picture 3" descr="Comprendre les réseaux de neurones convolutifs (CNN) -- VGG16">
            <a:extLst>
              <a:ext uri="{FF2B5EF4-FFF2-40B4-BE49-F238E27FC236}">
                <a16:creationId xmlns:a16="http://schemas.microsoft.com/office/drawing/2014/main" id="{A3E1F54A-E660-01D3-FD26-A5D3B1C8A7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1201" y="2074227"/>
            <a:ext cx="6228080" cy="3960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40871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8DFBE-A6E5-9159-B512-360947DEA2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120" y="131445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5: Classification &amp; Evaluation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8BFA4C-6D57-A5B4-FBA0-2B314D5131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800" y="1043304"/>
            <a:ext cx="11231880" cy="51441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classify brain tumours and evaluate the performance of the deep learning models.</a:t>
            </a:r>
          </a:p>
          <a:p>
            <a:pPr marL="0" indent="0"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Activities</a:t>
            </a:r>
          </a:p>
          <a:p>
            <a:pPr lvl="0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Classify tumour categories </a:t>
            </a:r>
          </a:p>
          <a:p>
            <a:pPr lvl="0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prediction results </a:t>
            </a:r>
          </a:p>
          <a:p>
            <a:pPr lvl="0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performance metrics </a:t>
            </a:r>
          </a:p>
          <a:p>
            <a:pPr lvl="0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model performance </a:t>
            </a:r>
          </a:p>
          <a:p>
            <a:pPr lvl="0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Visualize final results </a:t>
            </a:r>
          </a:p>
          <a:p>
            <a:pPr marL="0" indent="0"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</a:p>
          <a:p>
            <a:pPr lvl="0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Extracted Deep Features </a:t>
            </a:r>
          </a:p>
          <a:p>
            <a:pPr marL="0" indent="0"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  <a:p>
            <a:pPr lvl="0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Classified Tumour Type and Performance Metrics</a:t>
            </a:r>
          </a:p>
          <a:p>
            <a:endParaRPr lang="en-IN" dirty="0"/>
          </a:p>
        </p:txBody>
      </p:sp>
      <p:pic>
        <p:nvPicPr>
          <p:cNvPr id="4" name="Picture 3" descr="Day 30/100: Model Evaluation Metrics – More Than Just Accuracy | by Sebastian Buzdugan | Medium">
            <a:extLst>
              <a:ext uri="{FF2B5EF4-FFF2-40B4-BE49-F238E27FC236}">
                <a16:creationId xmlns:a16="http://schemas.microsoft.com/office/drawing/2014/main" id="{4D71CF07-AFFB-3FA3-53B2-FB55934D119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420" b="21454"/>
          <a:stretch>
            <a:fillRect/>
          </a:stretch>
        </p:blipFill>
        <p:spPr>
          <a:xfrm>
            <a:off x="6573520" y="2239328"/>
            <a:ext cx="4799330" cy="3557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19596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</TotalTime>
  <Words>846</Words>
  <Application>Microsoft Office PowerPoint</Application>
  <PresentationFormat>Widescreen</PresentationFormat>
  <Paragraphs>202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Times New Roman</vt:lpstr>
      <vt:lpstr>Office Theme</vt:lpstr>
      <vt:lpstr>Automatic Brain Tumour Detection and Classification from MRI Images Using Deep Learning with VGG16, ResNet50</vt:lpstr>
      <vt:lpstr>Abstract </vt:lpstr>
      <vt:lpstr>Aim &amp; Objectives  </vt:lpstr>
      <vt:lpstr>Introduction </vt:lpstr>
      <vt:lpstr>PowerPoint Presentation</vt:lpstr>
      <vt:lpstr>Problem Statement </vt:lpstr>
      <vt:lpstr>Existing System </vt:lpstr>
      <vt:lpstr>Proposed System </vt:lpstr>
      <vt:lpstr>Proposed Methodology and Algorithm</vt:lpstr>
      <vt:lpstr>Design &amp; Module Planning</vt:lpstr>
      <vt:lpstr>Module 1: MRI Image Acquisition</vt:lpstr>
      <vt:lpstr>Module 2: Image Preprocessing</vt:lpstr>
      <vt:lpstr>Module 3: Tumour Detection &amp; Segmentation </vt:lpstr>
      <vt:lpstr>Module 4: Feature Extraction</vt:lpstr>
      <vt:lpstr>Module 5: Classification &amp; Evaluation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Sai Mounika Narra</dc:creator>
  <cp:lastModifiedBy>Sai Mounika Narra</cp:lastModifiedBy>
  <cp:revision>3</cp:revision>
  <dcterms:created xsi:type="dcterms:W3CDTF">2026-07-31T07:52:51Z</dcterms:created>
  <dcterms:modified xsi:type="dcterms:W3CDTF">2026-08-17T05:02:45Z</dcterms:modified>
</cp:coreProperties>
</file>